
<file path=[Content_Types].xml><?xml version="1.0" encoding="utf-8"?>
<Types xmlns="http://schemas.openxmlformats.org/package/2006/content-types">
  <Default Extension="bin" ContentType="application/vnd.openxmlformats-officedocument.oleObject"/>
  <Default Extension="emf" ContentType="image/x-emf"/>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0" d="100"/>
          <a:sy n="80" d="100"/>
        </p:scale>
        <p:origin x="686" y="58"/>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2.emf"/></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746449" y="3625529"/>
            <a:ext cx="10356980" cy="861497"/>
          </a:xfrm>
        </p:spPr>
        <p:txBody>
          <a:bodyPr vert="horz" lIns="91440" tIns="45720" rIns="91440" bIns="45720" rtlCol="0" anchor="t">
            <a:normAutofit/>
          </a:bodyPr>
          <a:lstStyle/>
          <a:p>
            <a:r>
              <a:rPr lang="en-US" b="0" dirty="0">
                <a:solidFill>
                  <a:schemeClr val="tx1"/>
                </a:solidFill>
              </a:rPr>
              <a:t>Student Name : Trayam Roy </a:t>
            </a:r>
            <a:endParaRPr lang="en-IN" b="0" dirty="0">
              <a:solidFill>
                <a:schemeClr val="tx1"/>
              </a:solidFill>
            </a:endParaRPr>
          </a:p>
          <a:p>
            <a:r>
              <a:rPr lang="en-US" b="0" dirty="0">
                <a:solidFill>
                  <a:schemeClr val="tx1"/>
                </a:solidFill>
              </a:rPr>
              <a:t>College Name : Techno International New Town</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50"/>
            <a:ext cx="11591392" cy="743448"/>
          </a:xfrm>
        </p:spPr>
        <p:txBody>
          <a:bodyPr>
            <a:normAutofit/>
          </a:bodyPr>
          <a:lstStyle/>
          <a:p>
            <a:r>
              <a:rPr lang="en-GB" sz="3200" dirty="0"/>
              <a:t>Project Title - </a:t>
            </a:r>
            <a:r>
              <a:rPr lang="en-IN" sz="3200"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746449" y="4576469"/>
            <a:ext cx="7371184" cy="369332"/>
          </a:xfrm>
          <a:prstGeom prst="rect">
            <a:avLst/>
          </a:prstGeom>
          <a:noFill/>
        </p:spPr>
        <p:txBody>
          <a:bodyPr wrap="square" rtlCol="0">
            <a:spAutoFit/>
          </a:bodyPr>
          <a:lstStyle/>
          <a:p>
            <a:r>
              <a:rPr lang="en-US" b="1" dirty="0"/>
              <a:t>AICTE STU ID : </a:t>
            </a:r>
            <a:r>
              <a:rPr lang="en-IN" b="1" dirty="0"/>
              <a:t>STU69286094440e21764253844</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t>
            </a:r>
            <a:r>
              <a:rPr lang="en-IN" sz="2800" dirty="0" err="1"/>
              <a:t>analyze</a:t>
            </a:r>
            <a:r>
              <a:rPr lang="en-IN" sz="2800" dirty="0"/>
              <a:t> the given agricultural dataset and investigate seasonal differences in agricultural performance by identifying meaningful patterns, trends, relationships and variations within the available data.</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593724" y="738538"/>
            <a:ext cx="6276109" cy="830997"/>
          </a:xfrm>
        </p:spPr>
        <p:txBody>
          <a:bodyPr>
            <a:normAutofit fontScale="90000"/>
          </a:bodyPr>
          <a:lstStyle/>
          <a:p>
            <a:r>
              <a:rPr lang="en-GB" dirty="0"/>
              <a:t>Project Description</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9786A318-56D8-B9C8-708D-FDDEB46CA408}"/>
              </a:ext>
            </a:extLst>
          </p:cNvPr>
          <p:cNvSpPr txBox="1"/>
          <p:nvPr/>
        </p:nvSpPr>
        <p:spPr>
          <a:xfrm>
            <a:off x="675957" y="1569535"/>
            <a:ext cx="9630093" cy="5355312"/>
          </a:xfrm>
          <a:prstGeom prst="rect">
            <a:avLst/>
          </a:prstGeom>
          <a:noFill/>
        </p:spPr>
        <p:txBody>
          <a:bodyPr wrap="square" rtlCol="0">
            <a:spAutoFit/>
          </a:bodyPr>
          <a:lstStyle/>
          <a:p>
            <a:r>
              <a:rPr lang="en-IN" dirty="0"/>
              <a:t>This project analyses 4,000 farm-level agricultural records containing 28 variables </a:t>
            </a:r>
          </a:p>
          <a:p>
            <a:r>
              <a:rPr lang="en-IN" dirty="0"/>
              <a:t>related to seasons, locations, crops, environmental conditions, farming practices, production, resources and financial performance.</a:t>
            </a:r>
          </a:p>
          <a:p>
            <a:r>
              <a:rPr lang="en-IN" dirty="0"/>
              <a:t>The analysis was performed using Python and included:</a:t>
            </a:r>
          </a:p>
          <a:p>
            <a:pPr marL="285750" lvl="0" indent="-285750">
              <a:buFont typeface="Arial" panose="020B0604020202020204" pitchFamily="34" charset="0"/>
              <a:buChar char="•"/>
            </a:pPr>
            <a:r>
              <a:rPr lang="en-IN" dirty="0"/>
              <a:t>Understanding the structure and quality of the dataset</a:t>
            </a:r>
          </a:p>
          <a:p>
            <a:pPr marL="285750" lvl="0" indent="-285750">
              <a:buFont typeface="Arial" panose="020B0604020202020204" pitchFamily="34" charset="0"/>
              <a:buChar char="•"/>
            </a:pPr>
            <a:r>
              <a:rPr lang="en-IN" dirty="0"/>
              <a:t>Handling missing values and duplicate records</a:t>
            </a:r>
          </a:p>
          <a:p>
            <a:pPr marL="285750" lvl="0" indent="-285750">
              <a:buFont typeface="Arial" panose="020B0604020202020204" pitchFamily="34" charset="0"/>
              <a:buChar char="•"/>
            </a:pPr>
            <a:r>
              <a:rPr lang="en-IN" dirty="0"/>
              <a:t>Descriptive and statistical analysis</a:t>
            </a:r>
          </a:p>
          <a:p>
            <a:pPr marL="285750" lvl="0" indent="-285750">
              <a:buFont typeface="Arial" panose="020B0604020202020204" pitchFamily="34" charset="0"/>
              <a:buChar char="•"/>
            </a:pPr>
            <a:r>
              <a:rPr lang="en-IN" dirty="0"/>
              <a:t>Univariate and bivariate analysis</a:t>
            </a:r>
          </a:p>
          <a:p>
            <a:pPr marL="285750" lvl="0" indent="-285750">
              <a:buFont typeface="Arial" panose="020B0604020202020204" pitchFamily="34" charset="0"/>
              <a:buChar char="•"/>
            </a:pPr>
            <a:r>
              <a:rPr lang="en-IN" dirty="0"/>
              <a:t>Multivariate analysis</a:t>
            </a:r>
          </a:p>
          <a:p>
            <a:pPr marL="285750" lvl="0" indent="-285750">
              <a:buFont typeface="Arial" panose="020B0604020202020204" pitchFamily="34" charset="0"/>
              <a:buChar char="•"/>
            </a:pPr>
            <a:r>
              <a:rPr lang="en-IN" dirty="0"/>
              <a:t>Correlation analysis</a:t>
            </a:r>
          </a:p>
          <a:p>
            <a:pPr marL="285750" lvl="0" indent="-285750">
              <a:buFont typeface="Arial" panose="020B0604020202020204" pitchFamily="34" charset="0"/>
              <a:buChar char="•"/>
            </a:pPr>
            <a:r>
              <a:rPr lang="en-IN" dirty="0"/>
              <a:t>Seasonal and crop-wise comparisons</a:t>
            </a:r>
          </a:p>
          <a:p>
            <a:pPr marL="285750" lvl="0" indent="-285750">
              <a:buFont typeface="Arial" panose="020B0604020202020204" pitchFamily="34" charset="0"/>
              <a:buChar char="•"/>
            </a:pPr>
            <a:r>
              <a:rPr lang="en-IN" dirty="0"/>
              <a:t>ROI and water-efficiency analysis</a:t>
            </a:r>
          </a:p>
          <a:p>
            <a:pPr marL="285750" lvl="0" indent="-285750">
              <a:buFont typeface="Arial" panose="020B0604020202020204" pitchFamily="34" charset="0"/>
              <a:buChar char="•"/>
            </a:pPr>
            <a:r>
              <a:rPr lang="en-IN" dirty="0"/>
              <a:t>Pesticide usage vs disease/pest risk analysis</a:t>
            </a:r>
          </a:p>
          <a:p>
            <a:pPr marL="285750" lvl="0" indent="-285750">
              <a:buFont typeface="Arial" panose="020B0604020202020204" pitchFamily="34" charset="0"/>
              <a:buChar char="•"/>
            </a:pPr>
            <a:r>
              <a:rPr lang="en-IN" dirty="0"/>
              <a:t>State-wise yield comparison</a:t>
            </a:r>
          </a:p>
          <a:p>
            <a:r>
              <a:rPr lang="en-IN" dirty="0"/>
              <a:t>The final objective was to identify meaningful patterns and convert them into practical recommendations</a:t>
            </a:r>
            <a:r>
              <a:rPr lang="en-IN" b="1" dirty="0"/>
              <a:t> </a:t>
            </a:r>
            <a:r>
              <a:rPr lang="en-IN" dirty="0"/>
              <a:t>for agricultural planning.</a:t>
            </a:r>
          </a:p>
          <a:p>
            <a:br>
              <a:rPr lang="en-IN" dirty="0"/>
            </a:br>
            <a:endParaRPr lang="en-IN" dirty="0"/>
          </a:p>
          <a:p>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8" y="1400176"/>
            <a:ext cx="10356217" cy="5086350"/>
          </a:xfrm>
        </p:spPr>
        <p:txBody>
          <a:bodyPr>
            <a:normAutofit fontScale="25000" lnSpcReduction="20000"/>
          </a:bodyPr>
          <a:lstStyle/>
          <a:p>
            <a:pPr marL="0" indent="0">
              <a:buNone/>
            </a:pPr>
            <a:r>
              <a:rPr lang="en-IN" sz="6400" dirty="0"/>
              <a:t>The insights from this analysis can be useful for:</a:t>
            </a:r>
          </a:p>
          <a:p>
            <a:pPr marL="0" indent="0">
              <a:buNone/>
            </a:pPr>
            <a:r>
              <a:rPr lang="en-IN" sz="6400" b="1" dirty="0"/>
              <a:t>Farmers</a:t>
            </a:r>
            <a:endParaRPr lang="en-IN" sz="6400" dirty="0"/>
          </a:p>
          <a:p>
            <a:pPr lvl="0"/>
            <a:r>
              <a:rPr lang="en-IN" sz="6400" dirty="0"/>
              <a:t>Choosing suitable crops and seasons</a:t>
            </a:r>
          </a:p>
          <a:p>
            <a:pPr lvl="0"/>
            <a:r>
              <a:rPr lang="en-IN" sz="6400" dirty="0"/>
              <a:t>Managing water and other inputs</a:t>
            </a:r>
          </a:p>
          <a:p>
            <a:pPr lvl="0"/>
            <a:r>
              <a:rPr lang="en-IN" sz="6400" dirty="0"/>
              <a:t>Understanding profitability</a:t>
            </a:r>
          </a:p>
          <a:p>
            <a:pPr marL="0" indent="0">
              <a:buNone/>
            </a:pPr>
            <a:r>
              <a:rPr lang="en-IN" sz="6400" b="1" dirty="0"/>
              <a:t>Agricultural Planners</a:t>
            </a:r>
            <a:endParaRPr lang="en-IN" sz="6400" dirty="0"/>
          </a:p>
          <a:p>
            <a:pPr lvl="0"/>
            <a:r>
              <a:rPr lang="en-IN" sz="6400" dirty="0"/>
              <a:t>Comparing seasonal performance</a:t>
            </a:r>
          </a:p>
          <a:p>
            <a:pPr lvl="0"/>
            <a:r>
              <a:rPr lang="en-IN" sz="6400" dirty="0"/>
              <a:t>Planning crop allocation and resources</a:t>
            </a:r>
          </a:p>
          <a:p>
            <a:pPr marL="0" indent="0">
              <a:buNone/>
            </a:pPr>
            <a:r>
              <a:rPr lang="en-IN" sz="6400" b="1" dirty="0"/>
              <a:t>Government &amp; Policy Makers</a:t>
            </a:r>
            <a:endParaRPr lang="en-IN" sz="6400" dirty="0"/>
          </a:p>
          <a:p>
            <a:pPr lvl="0"/>
            <a:r>
              <a:rPr lang="en-IN" sz="6400" dirty="0"/>
              <a:t>Identifying areas where support or subsidies may be required</a:t>
            </a:r>
          </a:p>
          <a:p>
            <a:pPr lvl="0"/>
            <a:r>
              <a:rPr lang="en-IN" sz="6400" dirty="0"/>
              <a:t>Supporting evidence-based agricultural policies</a:t>
            </a:r>
          </a:p>
          <a:p>
            <a:pPr marL="0" indent="0">
              <a:buNone/>
            </a:pPr>
            <a:r>
              <a:rPr lang="en-IN" sz="6400" b="1" dirty="0"/>
              <a:t>Agricultural Researchers</a:t>
            </a:r>
            <a:endParaRPr lang="en-IN" sz="6400" dirty="0"/>
          </a:p>
          <a:p>
            <a:pPr lvl="0"/>
            <a:r>
              <a:rPr lang="en-IN" sz="6400" dirty="0"/>
              <a:t>Studying relationships between environmental conditions and crop performance</a:t>
            </a:r>
          </a:p>
          <a:p>
            <a:pPr marL="0" indent="0">
              <a:buNone/>
            </a:pPr>
            <a:r>
              <a:rPr lang="en-IN" sz="6400" b="1" dirty="0"/>
              <a:t>Agribusinesses</a:t>
            </a:r>
            <a:endParaRPr lang="en-IN" sz="6400" dirty="0"/>
          </a:p>
          <a:p>
            <a:pPr lvl="0"/>
            <a:r>
              <a:rPr lang="en-IN" sz="6400" dirty="0"/>
              <a:t>Understanding crop profitability, resource requirements and seasonal trends</a:t>
            </a:r>
            <a:br>
              <a:rPr lang="en-IN" sz="6400" dirty="0"/>
            </a:br>
            <a:endParaRPr lang="en-IN" sz="6400" dirty="0"/>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7" end="7"/>
                                            </p:txEl>
                                          </p:spTgt>
                                        </p:tgtEl>
                                        <p:attrNameLst>
                                          <p:attrName>style.visibility</p:attrName>
                                        </p:attrNameLst>
                                      </p:cBhvr>
                                      <p:to>
                                        <p:strVal val="visible"/>
                                      </p:to>
                                    </p:set>
                                    <p:animEffect transition="in" filter="fade">
                                      <p:cBhvr>
                                        <p:cTn id="63" dur="1000"/>
                                        <p:tgtEl>
                                          <p:spTgt spid="2">
                                            <p:txEl>
                                              <p:pRg st="7" end="7"/>
                                            </p:txEl>
                                          </p:spTgt>
                                        </p:tgtEl>
                                      </p:cBhvr>
                                    </p:animEffect>
                                    <p:anim calcmode="lin" valueType="num">
                                      <p:cBhvr>
                                        <p:cTn id="6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2">
                                            <p:txEl>
                                              <p:pRg st="8" end="8"/>
                                            </p:txEl>
                                          </p:spTgt>
                                        </p:tgtEl>
                                        <p:attrNameLst>
                                          <p:attrName>style.visibility</p:attrName>
                                        </p:attrNameLst>
                                      </p:cBhvr>
                                      <p:to>
                                        <p:strVal val="visible"/>
                                      </p:to>
                                    </p:set>
                                    <p:animEffect transition="in" filter="fade">
                                      <p:cBhvr>
                                        <p:cTn id="70" dur="1000"/>
                                        <p:tgtEl>
                                          <p:spTgt spid="2">
                                            <p:txEl>
                                              <p:pRg st="8" end="8"/>
                                            </p:txEl>
                                          </p:spTgt>
                                        </p:tgtEl>
                                      </p:cBhvr>
                                    </p:animEffect>
                                    <p:anim calcmode="lin" valueType="num">
                                      <p:cBhvr>
                                        <p:cTn id="71"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2">
                                            <p:txEl>
                                              <p:pRg st="9" end="9"/>
                                            </p:txEl>
                                          </p:spTgt>
                                        </p:tgtEl>
                                        <p:attrNameLst>
                                          <p:attrName>style.visibility</p:attrName>
                                        </p:attrNameLst>
                                      </p:cBhvr>
                                      <p:to>
                                        <p:strVal val="visible"/>
                                      </p:to>
                                    </p:set>
                                    <p:animEffect transition="in" filter="fade">
                                      <p:cBhvr>
                                        <p:cTn id="77" dur="1000"/>
                                        <p:tgtEl>
                                          <p:spTgt spid="2">
                                            <p:txEl>
                                              <p:pRg st="9" end="9"/>
                                            </p:txEl>
                                          </p:spTgt>
                                        </p:tgtEl>
                                      </p:cBhvr>
                                    </p:animEffect>
                                    <p:anim calcmode="lin" valueType="num">
                                      <p:cBhvr>
                                        <p:cTn id="78"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2">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2">
                                            <p:txEl>
                                              <p:pRg st="10" end="10"/>
                                            </p:txEl>
                                          </p:spTgt>
                                        </p:tgtEl>
                                        <p:attrNameLst>
                                          <p:attrName>style.visibility</p:attrName>
                                        </p:attrNameLst>
                                      </p:cBhvr>
                                      <p:to>
                                        <p:strVal val="visible"/>
                                      </p:to>
                                    </p:set>
                                    <p:animEffect transition="in" filter="fade">
                                      <p:cBhvr>
                                        <p:cTn id="84" dur="1000"/>
                                        <p:tgtEl>
                                          <p:spTgt spid="2">
                                            <p:txEl>
                                              <p:pRg st="10" end="10"/>
                                            </p:txEl>
                                          </p:spTgt>
                                        </p:tgtEl>
                                      </p:cBhvr>
                                    </p:animEffect>
                                    <p:anim calcmode="lin" valueType="num">
                                      <p:cBhvr>
                                        <p:cTn id="85" dur="1000" fill="hold"/>
                                        <p:tgtEl>
                                          <p:spTgt spid="2">
                                            <p:txEl>
                                              <p:pRg st="10" end="10"/>
                                            </p:txEl>
                                          </p:spTgt>
                                        </p:tgtEl>
                                        <p:attrNameLst>
                                          <p:attrName>ppt_x</p:attrName>
                                        </p:attrNameLst>
                                      </p:cBhvr>
                                      <p:tavLst>
                                        <p:tav tm="0">
                                          <p:val>
                                            <p:strVal val="#ppt_x"/>
                                          </p:val>
                                        </p:tav>
                                        <p:tav tm="100000">
                                          <p:val>
                                            <p:strVal val="#ppt_x"/>
                                          </p:val>
                                        </p:tav>
                                      </p:tavLst>
                                    </p:anim>
                                    <p:anim calcmode="lin" valueType="num">
                                      <p:cBhvr>
                                        <p:cTn id="86" dur="1000" fill="hold"/>
                                        <p:tgtEl>
                                          <p:spTgt spid="2">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2">
                                            <p:txEl>
                                              <p:pRg st="11" end="11"/>
                                            </p:txEl>
                                          </p:spTgt>
                                        </p:tgtEl>
                                        <p:attrNameLst>
                                          <p:attrName>style.visibility</p:attrName>
                                        </p:attrNameLst>
                                      </p:cBhvr>
                                      <p:to>
                                        <p:strVal val="visible"/>
                                      </p:to>
                                    </p:set>
                                    <p:animEffect transition="in" filter="fade">
                                      <p:cBhvr>
                                        <p:cTn id="91" dur="1000"/>
                                        <p:tgtEl>
                                          <p:spTgt spid="2">
                                            <p:txEl>
                                              <p:pRg st="11" end="11"/>
                                            </p:txEl>
                                          </p:spTgt>
                                        </p:tgtEl>
                                      </p:cBhvr>
                                    </p:animEffect>
                                    <p:anim calcmode="lin" valueType="num">
                                      <p:cBhvr>
                                        <p:cTn id="92" dur="1000" fill="hold"/>
                                        <p:tgtEl>
                                          <p:spTgt spid="2">
                                            <p:txEl>
                                              <p:pRg st="11" end="11"/>
                                            </p:txEl>
                                          </p:spTgt>
                                        </p:tgtEl>
                                        <p:attrNameLst>
                                          <p:attrName>ppt_x</p:attrName>
                                        </p:attrNameLst>
                                      </p:cBhvr>
                                      <p:tavLst>
                                        <p:tav tm="0">
                                          <p:val>
                                            <p:strVal val="#ppt_x"/>
                                          </p:val>
                                        </p:tav>
                                        <p:tav tm="100000">
                                          <p:val>
                                            <p:strVal val="#ppt_x"/>
                                          </p:val>
                                        </p:tav>
                                      </p:tavLst>
                                    </p:anim>
                                    <p:anim calcmode="lin" valueType="num">
                                      <p:cBhvr>
                                        <p:cTn id="93" dur="1000" fill="hold"/>
                                        <p:tgtEl>
                                          <p:spTgt spid="2">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2">
                                            <p:txEl>
                                              <p:pRg st="12" end="12"/>
                                            </p:txEl>
                                          </p:spTgt>
                                        </p:tgtEl>
                                        <p:attrNameLst>
                                          <p:attrName>style.visibility</p:attrName>
                                        </p:attrNameLst>
                                      </p:cBhvr>
                                      <p:to>
                                        <p:strVal val="visible"/>
                                      </p:to>
                                    </p:set>
                                    <p:animEffect transition="in" filter="fade">
                                      <p:cBhvr>
                                        <p:cTn id="98" dur="1000"/>
                                        <p:tgtEl>
                                          <p:spTgt spid="2">
                                            <p:txEl>
                                              <p:pRg st="12" end="12"/>
                                            </p:txEl>
                                          </p:spTgt>
                                        </p:tgtEl>
                                      </p:cBhvr>
                                    </p:animEffect>
                                    <p:anim calcmode="lin" valueType="num">
                                      <p:cBhvr>
                                        <p:cTn id="99" dur="1000" fill="hold"/>
                                        <p:tgtEl>
                                          <p:spTgt spid="2">
                                            <p:txEl>
                                              <p:pRg st="12" end="12"/>
                                            </p:txEl>
                                          </p:spTgt>
                                        </p:tgtEl>
                                        <p:attrNameLst>
                                          <p:attrName>ppt_x</p:attrName>
                                        </p:attrNameLst>
                                      </p:cBhvr>
                                      <p:tavLst>
                                        <p:tav tm="0">
                                          <p:val>
                                            <p:strVal val="#ppt_x"/>
                                          </p:val>
                                        </p:tav>
                                        <p:tav tm="100000">
                                          <p:val>
                                            <p:strVal val="#ppt_x"/>
                                          </p:val>
                                        </p:tav>
                                      </p:tavLst>
                                    </p:anim>
                                    <p:anim calcmode="lin" valueType="num">
                                      <p:cBhvr>
                                        <p:cTn id="100" dur="1000" fill="hold"/>
                                        <p:tgtEl>
                                          <p:spTgt spid="2">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2">
                                            <p:txEl>
                                              <p:pRg st="13" end="13"/>
                                            </p:txEl>
                                          </p:spTgt>
                                        </p:tgtEl>
                                        <p:attrNameLst>
                                          <p:attrName>style.visibility</p:attrName>
                                        </p:attrNameLst>
                                      </p:cBhvr>
                                      <p:to>
                                        <p:strVal val="visible"/>
                                      </p:to>
                                    </p:set>
                                    <p:animEffect transition="in" filter="fade">
                                      <p:cBhvr>
                                        <p:cTn id="105" dur="1000"/>
                                        <p:tgtEl>
                                          <p:spTgt spid="2">
                                            <p:txEl>
                                              <p:pRg st="13" end="13"/>
                                            </p:txEl>
                                          </p:spTgt>
                                        </p:tgtEl>
                                      </p:cBhvr>
                                    </p:animEffect>
                                    <p:anim calcmode="lin" valueType="num">
                                      <p:cBhvr>
                                        <p:cTn id="106" dur="1000" fill="hold"/>
                                        <p:tgtEl>
                                          <p:spTgt spid="2">
                                            <p:txEl>
                                              <p:pRg st="13" end="13"/>
                                            </p:txEl>
                                          </p:spTgt>
                                        </p:tgtEl>
                                        <p:attrNameLst>
                                          <p:attrName>ppt_x</p:attrName>
                                        </p:attrNameLst>
                                      </p:cBhvr>
                                      <p:tavLst>
                                        <p:tav tm="0">
                                          <p:val>
                                            <p:strVal val="#ppt_x"/>
                                          </p:val>
                                        </p:tav>
                                        <p:tav tm="100000">
                                          <p:val>
                                            <p:strVal val="#ppt_x"/>
                                          </p:val>
                                        </p:tav>
                                      </p:tavLst>
                                    </p:anim>
                                    <p:anim calcmode="lin" valueType="num">
                                      <p:cBhvr>
                                        <p:cTn id="107" dur="1000" fill="hold"/>
                                        <p:tgtEl>
                                          <p:spTgt spid="2">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grpId="0" nodeType="clickEffect">
                                  <p:stCondLst>
                                    <p:cond delay="0"/>
                                  </p:stCondLst>
                                  <p:childTnLst>
                                    <p:set>
                                      <p:cBhvr>
                                        <p:cTn id="111" dur="1" fill="hold">
                                          <p:stCondLst>
                                            <p:cond delay="0"/>
                                          </p:stCondLst>
                                        </p:cTn>
                                        <p:tgtEl>
                                          <p:spTgt spid="2">
                                            <p:txEl>
                                              <p:pRg st="14" end="14"/>
                                            </p:txEl>
                                          </p:spTgt>
                                        </p:tgtEl>
                                        <p:attrNameLst>
                                          <p:attrName>style.visibility</p:attrName>
                                        </p:attrNameLst>
                                      </p:cBhvr>
                                      <p:to>
                                        <p:strVal val="visible"/>
                                      </p:to>
                                    </p:set>
                                    <p:animEffect transition="in" filter="fade">
                                      <p:cBhvr>
                                        <p:cTn id="112" dur="1000"/>
                                        <p:tgtEl>
                                          <p:spTgt spid="2">
                                            <p:txEl>
                                              <p:pRg st="14" end="14"/>
                                            </p:txEl>
                                          </p:spTgt>
                                        </p:tgtEl>
                                      </p:cBhvr>
                                    </p:animEffect>
                                    <p:anim calcmode="lin" valueType="num">
                                      <p:cBhvr>
                                        <p:cTn id="113" dur="1000" fill="hold"/>
                                        <p:tgtEl>
                                          <p:spTgt spid="2">
                                            <p:txEl>
                                              <p:pRg st="14" end="14"/>
                                            </p:txEl>
                                          </p:spTgt>
                                        </p:tgtEl>
                                        <p:attrNameLst>
                                          <p:attrName>ppt_x</p:attrName>
                                        </p:attrNameLst>
                                      </p:cBhvr>
                                      <p:tavLst>
                                        <p:tav tm="0">
                                          <p:val>
                                            <p:strVal val="#ppt_x"/>
                                          </p:val>
                                        </p:tav>
                                        <p:tav tm="100000">
                                          <p:val>
                                            <p:strVal val="#ppt_x"/>
                                          </p:val>
                                        </p:tav>
                                      </p:tavLst>
                                    </p:anim>
                                    <p:anim calcmode="lin" valueType="num">
                                      <p:cBhvr>
                                        <p:cTn id="114" dur="1000" fill="hold"/>
                                        <p:tgtEl>
                                          <p:spTgt spid="2">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308079" y="1561122"/>
            <a:ext cx="10002418" cy="5182844"/>
          </a:xfrm>
        </p:spPr>
        <p:txBody>
          <a:bodyPr>
            <a:normAutofit/>
          </a:bodyPr>
          <a:lstStyle/>
          <a:p>
            <a:pPr>
              <a:lnSpc>
                <a:spcPct val="100000"/>
              </a:lnSpc>
            </a:pPr>
            <a:r>
              <a:rPr lang="en-IN" b="1" dirty="0"/>
              <a:t>Python</a:t>
            </a:r>
            <a:br>
              <a:rPr lang="en-IN" dirty="0"/>
            </a:br>
            <a:r>
              <a:rPr lang="en-IN" dirty="0"/>
              <a:t>Used as the main programming language for data analysis.</a:t>
            </a:r>
          </a:p>
          <a:p>
            <a:pPr>
              <a:lnSpc>
                <a:spcPct val="100000"/>
              </a:lnSpc>
            </a:pPr>
            <a:r>
              <a:rPr lang="en-IN" b="1" dirty="0"/>
              <a:t>Pandas</a:t>
            </a:r>
            <a:br>
              <a:rPr lang="en-IN" dirty="0"/>
            </a:br>
            <a:r>
              <a:rPr lang="en-IN" dirty="0"/>
              <a:t>Used for loading, cleaning, transforming and grouping the agricultural dataset.</a:t>
            </a:r>
          </a:p>
          <a:p>
            <a:pPr>
              <a:lnSpc>
                <a:spcPct val="100000"/>
              </a:lnSpc>
            </a:pPr>
            <a:r>
              <a:rPr lang="en-IN" b="1" dirty="0"/>
              <a:t>NumPy</a:t>
            </a:r>
            <a:br>
              <a:rPr lang="en-IN" dirty="0"/>
            </a:br>
            <a:r>
              <a:rPr lang="en-IN" dirty="0"/>
              <a:t>Used for numerical calculations and statistical operations.</a:t>
            </a:r>
          </a:p>
          <a:p>
            <a:pPr>
              <a:lnSpc>
                <a:spcPct val="100000"/>
              </a:lnSpc>
            </a:pPr>
            <a:r>
              <a:rPr lang="en-IN" b="1" dirty="0"/>
              <a:t>Matplotlib</a:t>
            </a:r>
            <a:br>
              <a:rPr lang="en-IN" dirty="0"/>
            </a:br>
            <a:r>
              <a:rPr lang="en-IN" dirty="0"/>
              <a:t>Used for creating analytical charts and visualizations.</a:t>
            </a:r>
          </a:p>
          <a:p>
            <a:pPr>
              <a:lnSpc>
                <a:spcPct val="100000"/>
              </a:lnSpc>
            </a:pPr>
            <a:r>
              <a:rPr lang="en-IN" b="1" dirty="0"/>
              <a:t>Seaborn</a:t>
            </a:r>
            <a:br>
              <a:rPr lang="en-IN" dirty="0"/>
            </a:br>
            <a:r>
              <a:rPr lang="en-IN" dirty="0"/>
              <a:t>Used for statistical visualizations such as heatmaps, scatter plots, bar charts and pair plots.</a:t>
            </a:r>
          </a:p>
          <a:p>
            <a:pPr>
              <a:lnSpc>
                <a:spcPct val="100000"/>
              </a:lnSpc>
            </a:pPr>
            <a:r>
              <a:rPr lang="en-IN" b="1" dirty="0"/>
              <a:t>Google </a:t>
            </a:r>
            <a:r>
              <a:rPr lang="en-IN" b="1" dirty="0" err="1"/>
              <a:t>Colab</a:t>
            </a:r>
            <a:br>
              <a:rPr lang="en-IN" dirty="0"/>
            </a:br>
            <a:r>
              <a:rPr lang="en-IN" dirty="0"/>
              <a:t>Used as the working environment to perform and document the complete analysis.</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743977" y="251334"/>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E1E237FB-1EF0-61FF-0DBC-D184B63C82B9}"/>
              </a:ext>
            </a:extLst>
          </p:cNvPr>
          <p:cNvSpPr txBox="1"/>
          <p:nvPr/>
        </p:nvSpPr>
        <p:spPr>
          <a:xfrm>
            <a:off x="675957" y="1017404"/>
            <a:ext cx="10573954" cy="5454516"/>
          </a:xfrm>
          <a:custGeom>
            <a:avLst/>
            <a:gdLst>
              <a:gd name="csX0" fmla="*/ 0 w 10573954"/>
              <a:gd name="csY0" fmla="*/ 74645 h 5454516"/>
              <a:gd name="csX1" fmla="*/ 10461988 w 10573954"/>
              <a:gd name="csY1" fmla="*/ 0 h 5454516"/>
              <a:gd name="csX2" fmla="*/ 10573954 w 10573954"/>
              <a:gd name="csY2" fmla="*/ 5454516 h 5454516"/>
              <a:gd name="csX3" fmla="*/ 93306 w 10573954"/>
              <a:gd name="csY3" fmla="*/ 5407863 h 5454516"/>
              <a:gd name="csX4" fmla="*/ 0 w 10573954"/>
              <a:gd name="csY4" fmla="*/ 74645 h 5454516"/>
            </a:gdLst>
            <a:ahLst/>
            <a:cxnLst>
              <a:cxn ang="0">
                <a:pos x="csX0" y="csY0"/>
              </a:cxn>
              <a:cxn ang="0">
                <a:pos x="csX1" y="csY1"/>
              </a:cxn>
              <a:cxn ang="0">
                <a:pos x="csX2" y="csY2"/>
              </a:cxn>
              <a:cxn ang="0">
                <a:pos x="csX3" y="csY3"/>
              </a:cxn>
              <a:cxn ang="0">
                <a:pos x="csX4" y="csY4"/>
              </a:cxn>
            </a:cxnLst>
            <a:rect l="l" t="t" r="r" b="b"/>
            <a:pathLst>
              <a:path w="10573954" h="5454516">
                <a:moveTo>
                  <a:pt x="0" y="74645"/>
                </a:moveTo>
                <a:lnTo>
                  <a:pt x="10461988" y="0"/>
                </a:lnTo>
                <a:lnTo>
                  <a:pt x="10573954" y="5454516"/>
                </a:lnTo>
                <a:lnTo>
                  <a:pt x="93306" y="5407863"/>
                </a:lnTo>
                <a:lnTo>
                  <a:pt x="0" y="74645"/>
                </a:lnTo>
                <a:close/>
              </a:path>
            </a:pathLst>
          </a:custGeom>
          <a:noFill/>
        </p:spPr>
        <p:txBody>
          <a:bodyPr wrap="square" rtlCol="0">
            <a:spAutoFit/>
          </a:bodyPr>
          <a:lstStyle/>
          <a:p>
            <a:r>
              <a:rPr lang="en-IN" dirty="0"/>
              <a:t>Seasonal Yield &amp; Profitability</a:t>
            </a:r>
          </a:p>
        </p:txBody>
      </p:sp>
      <p:pic>
        <p:nvPicPr>
          <p:cNvPr id="10" name="Picture 9">
            <a:extLst>
              <a:ext uri="{FF2B5EF4-FFF2-40B4-BE49-F238E27FC236}">
                <a16:creationId xmlns:a16="http://schemas.microsoft.com/office/drawing/2014/main" id="{3425734A-B881-B190-ED87-9D90F6F35085}"/>
              </a:ext>
            </a:extLst>
          </p:cNvPr>
          <p:cNvPicPr>
            <a:picLocks noChangeAspect="1"/>
          </p:cNvPicPr>
          <p:nvPr/>
        </p:nvPicPr>
        <p:blipFill>
          <a:blip r:embed="rId3"/>
          <a:stretch>
            <a:fillRect/>
          </a:stretch>
        </p:blipFill>
        <p:spPr>
          <a:xfrm>
            <a:off x="743977" y="1602483"/>
            <a:ext cx="4742423" cy="3653033"/>
          </a:xfrm>
          <a:prstGeom prst="rect">
            <a:avLst/>
          </a:prstGeom>
        </p:spPr>
      </p:pic>
      <p:pic>
        <p:nvPicPr>
          <p:cNvPr id="12" name="Picture 11">
            <a:extLst>
              <a:ext uri="{FF2B5EF4-FFF2-40B4-BE49-F238E27FC236}">
                <a16:creationId xmlns:a16="http://schemas.microsoft.com/office/drawing/2014/main" id="{832D07B7-E04A-01B1-C38F-FEAEA3F9511E}"/>
              </a:ext>
            </a:extLst>
          </p:cNvPr>
          <p:cNvPicPr>
            <a:picLocks noChangeAspect="1"/>
          </p:cNvPicPr>
          <p:nvPr/>
        </p:nvPicPr>
        <p:blipFill>
          <a:blip r:embed="rId4"/>
          <a:stretch>
            <a:fillRect/>
          </a:stretch>
        </p:blipFill>
        <p:spPr>
          <a:xfrm>
            <a:off x="6656870" y="1453459"/>
            <a:ext cx="4791153" cy="3674085"/>
          </a:xfrm>
          <a:prstGeom prst="rect">
            <a:avLst/>
          </a:prstGeom>
        </p:spPr>
      </p:pic>
      <p:sp>
        <p:nvSpPr>
          <p:cNvPr id="13" name="TextBox 12">
            <a:extLst>
              <a:ext uri="{FF2B5EF4-FFF2-40B4-BE49-F238E27FC236}">
                <a16:creationId xmlns:a16="http://schemas.microsoft.com/office/drawing/2014/main" id="{4893EFFF-D31F-081B-9F53-1209ACC50398}"/>
              </a:ext>
            </a:extLst>
          </p:cNvPr>
          <p:cNvSpPr txBox="1"/>
          <p:nvPr/>
        </p:nvSpPr>
        <p:spPr>
          <a:xfrm>
            <a:off x="847849" y="5460444"/>
            <a:ext cx="4534677" cy="738664"/>
          </a:xfrm>
          <a:prstGeom prst="rect">
            <a:avLst/>
          </a:prstGeom>
          <a:noFill/>
        </p:spPr>
        <p:txBody>
          <a:bodyPr wrap="square" rtlCol="0">
            <a:spAutoFit/>
          </a:bodyPr>
          <a:lstStyle/>
          <a:p>
            <a:r>
              <a:rPr lang="en-IN" sz="1050" dirty="0"/>
              <a:t>This boxplot compares the distribution of yield in the three seasons. We can see that Kharif has the highest average yield, while Zaid has the lowest average yield. The boxplot also shows considerable variation and outliers within each season.</a:t>
            </a:r>
          </a:p>
        </p:txBody>
      </p:sp>
      <p:sp>
        <p:nvSpPr>
          <p:cNvPr id="14" name="TextBox 13">
            <a:extLst>
              <a:ext uri="{FF2B5EF4-FFF2-40B4-BE49-F238E27FC236}">
                <a16:creationId xmlns:a16="http://schemas.microsoft.com/office/drawing/2014/main" id="{B27861BD-B8F9-3C10-49D3-9E09F62F4971}"/>
              </a:ext>
            </a:extLst>
          </p:cNvPr>
          <p:cNvSpPr txBox="1"/>
          <p:nvPr/>
        </p:nvSpPr>
        <p:spPr>
          <a:xfrm>
            <a:off x="6522098" y="5460444"/>
            <a:ext cx="5503430" cy="577081"/>
          </a:xfrm>
          <a:prstGeom prst="rect">
            <a:avLst/>
          </a:prstGeom>
          <a:noFill/>
        </p:spPr>
        <p:txBody>
          <a:bodyPr wrap="none" rtlCol="0">
            <a:spAutoFit/>
          </a:bodyPr>
          <a:lstStyle/>
          <a:p>
            <a:r>
              <a:rPr lang="en-IN" sz="1050" dirty="0"/>
              <a:t>This chart compares the profit.</a:t>
            </a:r>
          </a:p>
          <a:p>
            <a:r>
              <a:rPr lang="en-IN" sz="1050" dirty="0"/>
              <a:t> Kharif clearly performs the best financially, while Zaid has a negative average profit. </a:t>
            </a:r>
          </a:p>
          <a:p>
            <a:r>
              <a:rPr lang="en-IN" sz="1050" dirty="0"/>
              <a:t>So, the seasonal difference is not only in production but also in economic performance.</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275371"/>
            <a:ext cx="10436224" cy="4985470"/>
          </a:xfrm>
        </p:spPr>
        <p:txBody>
          <a:bodyPr>
            <a:normAutofit/>
          </a:bodyPr>
          <a:lstStyle/>
          <a:p>
            <a:pPr marL="0" indent="0">
              <a:buNone/>
            </a:pPr>
            <a:r>
              <a:rPr lang="en-IN" dirty="0"/>
              <a:t>Crop Performance Across Seasons</a:t>
            </a:r>
          </a:p>
        </p:txBody>
      </p:sp>
      <p:pic>
        <p:nvPicPr>
          <p:cNvPr id="3" name="Picture 2">
            <a:extLst>
              <a:ext uri="{FF2B5EF4-FFF2-40B4-BE49-F238E27FC236}">
                <a16:creationId xmlns:a16="http://schemas.microsoft.com/office/drawing/2014/main" id="{60F9F69E-583B-80DE-54F1-3C12B621903C}"/>
              </a:ext>
            </a:extLst>
          </p:cNvPr>
          <p:cNvPicPr>
            <a:picLocks noChangeAspect="1"/>
          </p:cNvPicPr>
          <p:nvPr/>
        </p:nvPicPr>
        <p:blipFill>
          <a:blip r:embed="rId3"/>
          <a:stretch>
            <a:fillRect/>
          </a:stretch>
        </p:blipFill>
        <p:spPr>
          <a:xfrm>
            <a:off x="948612" y="1716149"/>
            <a:ext cx="5713445" cy="3742259"/>
          </a:xfrm>
          <a:prstGeom prst="rect">
            <a:avLst/>
          </a:prstGeom>
        </p:spPr>
      </p:pic>
      <p:sp>
        <p:nvSpPr>
          <p:cNvPr id="6" name="TextBox 5">
            <a:extLst>
              <a:ext uri="{FF2B5EF4-FFF2-40B4-BE49-F238E27FC236}">
                <a16:creationId xmlns:a16="http://schemas.microsoft.com/office/drawing/2014/main" id="{55A16F5B-8B07-D821-E15D-07D8D419696B}"/>
              </a:ext>
            </a:extLst>
          </p:cNvPr>
          <p:cNvSpPr txBox="1"/>
          <p:nvPr/>
        </p:nvSpPr>
        <p:spPr>
          <a:xfrm>
            <a:off x="6848536" y="2353223"/>
            <a:ext cx="4536300" cy="1815882"/>
          </a:xfrm>
          <a:prstGeom prst="rect">
            <a:avLst/>
          </a:prstGeom>
          <a:noFill/>
        </p:spPr>
        <p:txBody>
          <a:bodyPr wrap="square" rtlCol="0">
            <a:spAutoFit/>
          </a:bodyPr>
          <a:lstStyle/>
          <a:p>
            <a:r>
              <a:rPr lang="en-IN" sz="1400" b="1" dirty="0"/>
              <a:t>Crop performance varies across seasons.</a:t>
            </a:r>
            <a:br>
              <a:rPr lang="en-IN" sz="1400" dirty="0"/>
            </a:br>
            <a:r>
              <a:rPr lang="en-IN" sz="1400" dirty="0"/>
              <a:t>• The plot compares yield distribution across crops and seasons.</a:t>
            </a:r>
            <a:br>
              <a:rPr lang="en-IN" sz="1400" dirty="0"/>
            </a:br>
            <a:r>
              <a:rPr lang="en-IN" sz="1400" dirty="0"/>
              <a:t>• Sugarcane shows the highest yield range among the crops.</a:t>
            </a:r>
            <a:br>
              <a:rPr lang="en-IN" sz="1400" dirty="0"/>
            </a:br>
            <a:r>
              <a:rPr lang="en-IN" sz="1400" dirty="0"/>
              <a:t>• Chilli also shows comparatively strong performance.</a:t>
            </a:r>
            <a:br>
              <a:rPr lang="en-IN" sz="1400" dirty="0"/>
            </a:br>
            <a:r>
              <a:rPr lang="en-IN" sz="1400" dirty="0"/>
              <a:t>• The results indicate that both crop selection and season influence yield</a:t>
            </a:r>
            <a:r>
              <a:rPr lang="en-IN" sz="1050" dirty="0"/>
              <a:t>.</a:t>
            </a:r>
            <a:endParaRPr lang="en-IN" sz="800" dirty="0"/>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6135099" y="2481460"/>
            <a:ext cx="5265874" cy="666078"/>
          </a:xfrm>
          <a:prstGeom prst="rect">
            <a:avLst/>
          </a:prstGeom>
        </p:spPr>
        <p:txBody>
          <a:bodyPr vert="horz" lIns="91440" tIns="45720" rIns="91440" bIns="45720" rtlCol="0">
            <a:no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lang="en-IN" sz="1200" dirty="0"/>
              <a:t>This plot compares the average amount of water used in each season. Zaid has the highest average water usage, even though its average yield is the lowest. This makes Zaid particularly important from a resource-management point of view.</a:t>
            </a:r>
            <a:endParaRPr lang="en-GB" sz="12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7086736" y="1576559"/>
            <a:ext cx="4275138" cy="477520"/>
          </a:xfrm>
        </p:spPr>
        <p:txBody>
          <a:bodyPr/>
          <a:lstStyle/>
          <a:p>
            <a:pPr marL="0" indent="0">
              <a:buNone/>
            </a:pPr>
            <a:r>
              <a:rPr lang="en-IN" dirty="0"/>
              <a:t>Water Usage Across Seasons</a:t>
            </a:r>
          </a:p>
        </p:txBody>
      </p:sp>
      <p:pic>
        <p:nvPicPr>
          <p:cNvPr id="3" name="Picture 2">
            <a:extLst>
              <a:ext uri="{FF2B5EF4-FFF2-40B4-BE49-F238E27FC236}">
                <a16:creationId xmlns:a16="http://schemas.microsoft.com/office/drawing/2014/main" id="{6E8E7DFB-7C2B-BFED-70E1-CD7CEB77B96A}"/>
              </a:ext>
            </a:extLst>
          </p:cNvPr>
          <p:cNvPicPr>
            <a:picLocks noChangeAspect="1"/>
          </p:cNvPicPr>
          <p:nvPr/>
        </p:nvPicPr>
        <p:blipFill>
          <a:blip r:embed="rId3"/>
          <a:stretch>
            <a:fillRect/>
          </a:stretch>
        </p:blipFill>
        <p:spPr>
          <a:xfrm>
            <a:off x="751598" y="1750593"/>
            <a:ext cx="5265876" cy="4305673"/>
          </a:xfrm>
          <a:prstGeom prst="rect">
            <a:avLst/>
          </a:prstGeom>
        </p:spPr>
      </p:pic>
      <p:sp>
        <p:nvSpPr>
          <p:cNvPr id="6" name="TextBox 5">
            <a:extLst>
              <a:ext uri="{FF2B5EF4-FFF2-40B4-BE49-F238E27FC236}">
                <a16:creationId xmlns:a16="http://schemas.microsoft.com/office/drawing/2014/main" id="{B108C37F-94B0-2EA9-4410-D457374628AF}"/>
              </a:ext>
            </a:extLst>
          </p:cNvPr>
          <p:cNvSpPr txBox="1"/>
          <p:nvPr/>
        </p:nvSpPr>
        <p:spPr>
          <a:xfrm>
            <a:off x="6078682" y="3429000"/>
            <a:ext cx="5322291" cy="646331"/>
          </a:xfrm>
          <a:prstGeom prst="rect">
            <a:avLst/>
          </a:prstGeom>
          <a:noFill/>
        </p:spPr>
        <p:txBody>
          <a:bodyPr wrap="none" rtlCol="0">
            <a:spAutoFit/>
          </a:bodyPr>
          <a:lstStyle/>
          <a:p>
            <a:r>
              <a:rPr lang="en-IN" sz="1200" dirty="0"/>
              <a:t>Zaid recorded the highest average water usage: </a:t>
            </a:r>
            <a:r>
              <a:rPr lang="en-IN" sz="1200" b="1" dirty="0"/>
              <a:t>6,419.89 m³</a:t>
            </a:r>
            <a:r>
              <a:rPr lang="en-IN" sz="1200" dirty="0"/>
              <a:t>.</a:t>
            </a:r>
            <a:br>
              <a:rPr lang="en-IN" sz="1200" dirty="0"/>
            </a:br>
            <a:r>
              <a:rPr lang="en-IN" sz="1200" dirty="0"/>
              <a:t>Zaid also recorded the lowest average yield: </a:t>
            </a:r>
            <a:r>
              <a:rPr lang="en-IN" sz="1200" b="1" dirty="0"/>
              <a:t>4.64 tonnes/ha</a:t>
            </a:r>
            <a:r>
              <a:rPr lang="en-IN" sz="1200" dirty="0"/>
              <a:t>.</a:t>
            </a:r>
            <a:br>
              <a:rPr lang="en-IN" sz="1200" dirty="0"/>
            </a:br>
            <a:r>
              <a:rPr lang="en-IN" sz="1200" dirty="0"/>
              <a:t>High water usage does not necessarily mean high agricultural performance</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7204064" y="1130890"/>
            <a:ext cx="4275138" cy="477520"/>
          </a:xfrm>
        </p:spPr>
        <p:txBody>
          <a:bodyPr/>
          <a:lstStyle/>
          <a:p>
            <a:pPr marL="0" indent="0">
              <a:buNone/>
            </a:pPr>
            <a:r>
              <a:rPr lang="en-IN" dirty="0"/>
              <a:t>Economic Efficiency – ROI Analysis</a:t>
            </a:r>
          </a:p>
        </p:txBody>
      </p:sp>
      <p:pic>
        <p:nvPicPr>
          <p:cNvPr id="3" name="Picture 2">
            <a:extLst>
              <a:ext uri="{FF2B5EF4-FFF2-40B4-BE49-F238E27FC236}">
                <a16:creationId xmlns:a16="http://schemas.microsoft.com/office/drawing/2014/main" id="{0B7E3594-E9E6-31C8-34B3-72B6EC2A2C0D}"/>
              </a:ext>
            </a:extLst>
          </p:cNvPr>
          <p:cNvPicPr>
            <a:picLocks noChangeAspect="1"/>
          </p:cNvPicPr>
          <p:nvPr/>
        </p:nvPicPr>
        <p:blipFill>
          <a:blip r:embed="rId3"/>
          <a:stretch>
            <a:fillRect/>
          </a:stretch>
        </p:blipFill>
        <p:spPr>
          <a:xfrm>
            <a:off x="771414" y="1201586"/>
            <a:ext cx="5982218" cy="4701947"/>
          </a:xfrm>
          <a:prstGeom prst="rect">
            <a:avLst/>
          </a:prstGeom>
        </p:spPr>
      </p:pic>
      <p:sp>
        <p:nvSpPr>
          <p:cNvPr id="9" name="TextBox 8">
            <a:extLst>
              <a:ext uri="{FF2B5EF4-FFF2-40B4-BE49-F238E27FC236}">
                <a16:creationId xmlns:a16="http://schemas.microsoft.com/office/drawing/2014/main" id="{1826A457-97AC-B47A-EAA2-B3A5D2B101FB}"/>
              </a:ext>
            </a:extLst>
          </p:cNvPr>
          <p:cNvSpPr txBox="1"/>
          <p:nvPr/>
        </p:nvSpPr>
        <p:spPr>
          <a:xfrm>
            <a:off x="6940244" y="2197893"/>
            <a:ext cx="5049592" cy="2462213"/>
          </a:xfrm>
          <a:prstGeom prst="rect">
            <a:avLst/>
          </a:prstGeom>
          <a:noFill/>
        </p:spPr>
        <p:txBody>
          <a:bodyPr wrap="square">
            <a:spAutoFit/>
          </a:bodyPr>
          <a:lstStyle/>
          <a:p>
            <a:pPr>
              <a:buNone/>
            </a:pPr>
            <a:r>
              <a:rPr lang="en-IN" sz="1400" b="1" dirty="0"/>
              <a:t>Content:</a:t>
            </a:r>
            <a:endParaRPr lang="en-IN" sz="1400" dirty="0"/>
          </a:p>
          <a:p>
            <a:pPr marL="285750" lvl="0" indent="-285750">
              <a:buFont typeface="Arial" panose="020B0604020202020204" pitchFamily="34" charset="0"/>
              <a:buChar char="•"/>
            </a:pPr>
            <a:r>
              <a:rPr lang="en-IN" sz="1400" dirty="0"/>
              <a:t>ROI was calculated using: </a:t>
            </a:r>
          </a:p>
          <a:p>
            <a:r>
              <a:rPr lang="en-IN" sz="1400" b="1" dirty="0"/>
              <a:t>ROI = (Profit / Total Cost) × 100</a:t>
            </a:r>
            <a:endParaRPr lang="en-IN" sz="1400" dirty="0"/>
          </a:p>
          <a:p>
            <a:pPr marL="285750" lvl="0" indent="-285750">
              <a:buFont typeface="Arial" panose="020B0604020202020204" pitchFamily="34" charset="0"/>
              <a:buChar char="•"/>
            </a:pPr>
            <a:r>
              <a:rPr lang="en-IN" sz="1400" dirty="0"/>
              <a:t>Sugarcane and Chilli show the strongest ROI performance in the dataset.</a:t>
            </a:r>
          </a:p>
          <a:p>
            <a:pPr marL="285750" lvl="0" indent="-285750">
              <a:buFont typeface="Arial" panose="020B0604020202020204" pitchFamily="34" charset="0"/>
              <a:buChar char="•"/>
            </a:pPr>
            <a:r>
              <a:rPr lang="en-IN" sz="1400" dirty="0"/>
              <a:t>Wheat, Rice and Maize show negative ROI across the analysed seasons. </a:t>
            </a:r>
          </a:p>
          <a:p>
            <a:pPr marL="285750" lvl="0" indent="-285750">
              <a:buFont typeface="Arial" panose="020B0604020202020204" pitchFamily="34" charset="0"/>
              <a:buChar char="•"/>
            </a:pPr>
            <a:r>
              <a:rPr lang="en-IN" sz="1400" dirty="0"/>
              <a:t>The results show a substantial difference in economic efficiency between crops. </a:t>
            </a:r>
          </a:p>
          <a:p>
            <a:pPr marL="285750" lvl="0" indent="-285750">
              <a:buFont typeface="Arial" panose="020B0604020202020204" pitchFamily="34" charset="0"/>
              <a:buChar char="•"/>
            </a:pPr>
            <a:r>
              <a:rPr lang="en-IN" sz="1400" dirty="0"/>
              <a:t>Crop selection can therefore have a major influence on farm profitability. </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5934389" y="1201586"/>
            <a:ext cx="5383764" cy="1312148"/>
          </a:xfrm>
        </p:spPr>
        <p:txBody>
          <a:bodyPr>
            <a:noAutofit/>
          </a:bodyPr>
          <a:lstStyle/>
          <a:p>
            <a:pPr marL="0" indent="0">
              <a:buNone/>
            </a:pPr>
            <a:r>
              <a:rPr lang="en-IN" dirty="0"/>
              <a:t>Pesticide Usage and Disease/Pest Risk</a:t>
            </a:r>
          </a:p>
        </p:txBody>
      </p:sp>
      <p:pic>
        <p:nvPicPr>
          <p:cNvPr id="3" name="Picture 2">
            <a:extLst>
              <a:ext uri="{FF2B5EF4-FFF2-40B4-BE49-F238E27FC236}">
                <a16:creationId xmlns:a16="http://schemas.microsoft.com/office/drawing/2014/main" id="{CFDFBE0D-FA91-CDF3-AA66-4A9FC397C92B}"/>
              </a:ext>
            </a:extLst>
          </p:cNvPr>
          <p:cNvPicPr>
            <a:picLocks noChangeAspect="1"/>
          </p:cNvPicPr>
          <p:nvPr/>
        </p:nvPicPr>
        <p:blipFill>
          <a:blip r:embed="rId3"/>
          <a:stretch>
            <a:fillRect/>
          </a:stretch>
        </p:blipFill>
        <p:spPr>
          <a:xfrm>
            <a:off x="675957" y="1175968"/>
            <a:ext cx="4968671" cy="5387807"/>
          </a:xfrm>
          <a:prstGeom prst="rect">
            <a:avLst/>
          </a:prstGeom>
        </p:spPr>
      </p:pic>
      <p:sp>
        <p:nvSpPr>
          <p:cNvPr id="9" name="TextBox 8">
            <a:extLst>
              <a:ext uri="{FF2B5EF4-FFF2-40B4-BE49-F238E27FC236}">
                <a16:creationId xmlns:a16="http://schemas.microsoft.com/office/drawing/2014/main" id="{E64F170A-BE96-526C-342D-C5D4C3D5CAF7}"/>
              </a:ext>
            </a:extLst>
          </p:cNvPr>
          <p:cNvSpPr txBox="1"/>
          <p:nvPr/>
        </p:nvSpPr>
        <p:spPr>
          <a:xfrm>
            <a:off x="5644628" y="2040852"/>
            <a:ext cx="6102220" cy="3416320"/>
          </a:xfrm>
          <a:prstGeom prst="rect">
            <a:avLst/>
          </a:prstGeom>
          <a:noFill/>
        </p:spPr>
        <p:txBody>
          <a:bodyPr wrap="square">
            <a:spAutoFit/>
          </a:bodyPr>
          <a:lstStyle/>
          <a:p>
            <a:r>
              <a:rPr lang="en-IN" b="1" dirty="0"/>
              <a:t>Content:</a:t>
            </a:r>
            <a:endParaRPr lang="en-IN" dirty="0"/>
          </a:p>
          <a:p>
            <a:pPr marL="285750" lvl="0" indent="-285750">
              <a:buFont typeface="Arial" panose="020B0604020202020204" pitchFamily="34" charset="0"/>
              <a:buChar char="•"/>
            </a:pPr>
            <a:r>
              <a:rPr lang="en-IN" dirty="0"/>
              <a:t>A moderate negative relationship was observed between pesticide usage and reported disease/pest risk. </a:t>
            </a:r>
          </a:p>
          <a:p>
            <a:pPr marL="285750" lvl="0" indent="-285750">
              <a:buFont typeface="Arial" panose="020B0604020202020204" pitchFamily="34" charset="0"/>
              <a:buChar char="•"/>
            </a:pPr>
            <a:r>
              <a:rPr lang="en-IN" dirty="0"/>
              <a:t>Correlation values were approximately: </a:t>
            </a:r>
          </a:p>
          <a:p>
            <a:pPr marL="742950" lvl="1" indent="-285750">
              <a:buFont typeface="Arial" panose="020B0604020202020204" pitchFamily="34" charset="0"/>
              <a:buChar char="•"/>
            </a:pPr>
            <a:r>
              <a:rPr lang="en-IN" b="1" dirty="0"/>
              <a:t>Kharif: −0.57</a:t>
            </a:r>
            <a:r>
              <a:rPr lang="en-IN" dirty="0"/>
              <a:t> </a:t>
            </a:r>
          </a:p>
          <a:p>
            <a:pPr marL="742950" lvl="1" indent="-285750">
              <a:buFont typeface="Arial" panose="020B0604020202020204" pitchFamily="34" charset="0"/>
              <a:buChar char="•"/>
            </a:pPr>
            <a:r>
              <a:rPr lang="en-IN" b="1" dirty="0"/>
              <a:t>Rabi: −0.58</a:t>
            </a:r>
            <a:r>
              <a:rPr lang="en-IN" dirty="0"/>
              <a:t> </a:t>
            </a:r>
          </a:p>
          <a:p>
            <a:pPr marL="742950" lvl="1" indent="-285750">
              <a:buFont typeface="Arial" panose="020B0604020202020204" pitchFamily="34" charset="0"/>
              <a:buChar char="•"/>
            </a:pPr>
            <a:r>
              <a:rPr lang="en-IN" b="1" dirty="0"/>
              <a:t>Zaid: −0.60</a:t>
            </a:r>
            <a:r>
              <a:rPr lang="en-IN" dirty="0"/>
              <a:t> </a:t>
            </a:r>
          </a:p>
          <a:p>
            <a:pPr marL="285750" lvl="0" indent="-285750">
              <a:buFont typeface="Arial" panose="020B0604020202020204" pitchFamily="34" charset="0"/>
              <a:buChar char="•"/>
            </a:pPr>
            <a:r>
              <a:rPr lang="en-IN" dirty="0"/>
              <a:t>Higher pesticide usage was associated with lower reported pest/disease risk in the dataset.</a:t>
            </a:r>
          </a:p>
          <a:p>
            <a:pPr marL="285750" lvl="0" indent="-285750">
              <a:buFont typeface="Arial" panose="020B0604020202020204" pitchFamily="34" charset="0"/>
              <a:buChar char="•"/>
            </a:pPr>
            <a:r>
              <a:rPr lang="en-IN" dirty="0"/>
              <a:t>However, correlation does not prove causation. </a:t>
            </a:r>
          </a:p>
          <a:p>
            <a:pPr marL="285750" lvl="0" indent="-285750">
              <a:buFont typeface="Arial" panose="020B0604020202020204" pitchFamily="34" charset="0"/>
              <a:buChar char="•"/>
            </a:pPr>
            <a:r>
              <a:rPr lang="en-IN" dirty="0"/>
              <a:t>Other factors may also influence disease and pest risk.</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1E7A1777-E0D7-2807-E5D9-D084347519F5}"/>
              </a:ext>
            </a:extLst>
          </p:cNvPr>
          <p:cNvSpPr txBox="1"/>
          <p:nvPr/>
        </p:nvSpPr>
        <p:spPr>
          <a:xfrm>
            <a:off x="675957" y="1275371"/>
            <a:ext cx="8906582" cy="4801314"/>
          </a:xfrm>
          <a:prstGeom prst="rect">
            <a:avLst/>
          </a:prstGeom>
          <a:noFill/>
        </p:spPr>
        <p:txBody>
          <a:bodyPr wrap="square" rtlCol="0">
            <a:spAutoFit/>
          </a:bodyPr>
          <a:lstStyle/>
          <a:p>
            <a:r>
              <a:rPr lang="en-IN" dirty="0"/>
              <a:t>This analysis can be extended further by:</a:t>
            </a:r>
          </a:p>
          <a:p>
            <a:endParaRPr lang="en-IN" dirty="0"/>
          </a:p>
          <a:p>
            <a:pPr marL="285750" lvl="0" indent="-285750">
              <a:buFont typeface="Arial" panose="020B0604020202020204" pitchFamily="34" charset="0"/>
              <a:buChar char="•"/>
            </a:pPr>
            <a:r>
              <a:rPr lang="en-IN" dirty="0"/>
              <a:t>Adding multi-year agricultural data to study long-term seasonal trends.</a:t>
            </a:r>
          </a:p>
          <a:p>
            <a:pPr marL="285750" lvl="0" indent="-285750">
              <a:buFont typeface="Arial" panose="020B0604020202020204" pitchFamily="34" charset="0"/>
              <a:buChar char="•"/>
            </a:pPr>
            <a:r>
              <a:rPr lang="en-IN" dirty="0"/>
              <a:t>Including historical market price data to study price fluctuations.</a:t>
            </a:r>
          </a:p>
          <a:p>
            <a:pPr marL="285750" lvl="0" indent="-285750">
              <a:buFont typeface="Arial" panose="020B0604020202020204" pitchFamily="34" charset="0"/>
              <a:buChar char="•"/>
            </a:pPr>
            <a:r>
              <a:rPr lang="en-IN" dirty="0"/>
              <a:t>Adding detailed soil and weather information.</a:t>
            </a:r>
          </a:p>
          <a:p>
            <a:pPr marL="285750" lvl="0" indent="-285750">
              <a:buFont typeface="Arial" panose="020B0604020202020204" pitchFamily="34" charset="0"/>
              <a:buChar char="•"/>
            </a:pPr>
            <a:r>
              <a:rPr lang="en-IN" dirty="0"/>
              <a:t>Studying the effect of irrigation methods on water efficiency.</a:t>
            </a:r>
          </a:p>
          <a:p>
            <a:pPr marL="285750" lvl="0" indent="-285750">
              <a:buFont typeface="Arial" panose="020B0604020202020204" pitchFamily="34" charset="0"/>
              <a:buChar char="•"/>
            </a:pPr>
            <a:r>
              <a:rPr lang="en-IN" dirty="0"/>
              <a:t>Comparing input costs and subsidies across regions.</a:t>
            </a:r>
          </a:p>
          <a:p>
            <a:pPr marL="285750" lvl="0" indent="-285750">
              <a:buFont typeface="Arial" panose="020B0604020202020204" pitchFamily="34" charset="0"/>
              <a:buChar char="•"/>
            </a:pPr>
            <a:r>
              <a:rPr lang="en-IN" dirty="0"/>
              <a:t>Developing predictive models for crop yield or profitability in a future project.</a:t>
            </a:r>
          </a:p>
          <a:p>
            <a:pPr marL="285750" lvl="0" indent="-285750">
              <a:buFont typeface="Arial" panose="020B0604020202020204" pitchFamily="34" charset="0"/>
              <a:buChar char="•"/>
            </a:pPr>
            <a:r>
              <a:rPr lang="en-IN" dirty="0"/>
              <a:t>Creating an interactive dashboard for farmers and planners.</a:t>
            </a:r>
          </a:p>
          <a:p>
            <a:pPr marL="285750" lvl="0" indent="-285750">
              <a:buFont typeface="Arial" panose="020B0604020202020204" pitchFamily="34" charset="0"/>
              <a:buChar char="•"/>
            </a:pPr>
            <a:r>
              <a:rPr lang="en-IN" dirty="0"/>
              <a:t>Adding more detailed geographical and crop-level analysis.</a:t>
            </a:r>
          </a:p>
          <a:p>
            <a:pPr lvl="0"/>
            <a:endParaRPr lang="en-IN" dirty="0"/>
          </a:p>
          <a:p>
            <a:pPr lvl="0"/>
            <a:endParaRPr lang="en-IN" dirty="0"/>
          </a:p>
          <a:p>
            <a:r>
              <a:rPr lang="en-IN" b="1" dirty="0"/>
              <a:t>Future Goal</a:t>
            </a:r>
          </a:p>
          <a:p>
            <a:endParaRPr lang="en-IN" b="1" dirty="0"/>
          </a:p>
          <a:p>
            <a:r>
              <a:rPr lang="en-IN" dirty="0"/>
              <a:t>The analysis can eventually be developed into a more complete decision-support system for crop, season and resource planning.</a:t>
            </a:r>
          </a:p>
          <a:p>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1569011" y="2690622"/>
            <a:ext cx="9086548" cy="369332"/>
          </a:xfrm>
          <a:prstGeom prst="rect">
            <a:avLst/>
          </a:prstGeom>
          <a:noFill/>
        </p:spPr>
        <p:txBody>
          <a:bodyPr wrap="square">
            <a:spAutoFit/>
          </a:bodyPr>
          <a:lstStyle/>
          <a:p>
            <a:r>
              <a:rPr lang="en-US" dirty="0"/>
              <a:t>https://github.com/heyytrayamm/Seasonal-Agriculture-Performance-Analysis.git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graphicFrame>
        <p:nvGraphicFramePr>
          <p:cNvPr id="2" name="Object 1">
            <a:extLst>
              <a:ext uri="{FF2B5EF4-FFF2-40B4-BE49-F238E27FC236}">
                <a16:creationId xmlns:a16="http://schemas.microsoft.com/office/drawing/2014/main" id="{7FF126EE-3742-EA16-6B9C-23ADB2B9D3A9}"/>
              </a:ext>
            </a:extLst>
          </p:cNvPr>
          <p:cNvGraphicFramePr>
            <a:graphicFrameLocks noChangeAspect="1"/>
          </p:cNvGraphicFramePr>
          <p:nvPr>
            <p:extLst>
              <p:ext uri="{D42A27DB-BD31-4B8C-83A1-F6EECF244321}">
                <p14:modId xmlns:p14="http://schemas.microsoft.com/office/powerpoint/2010/main" val="2464643115"/>
              </p:ext>
            </p:extLst>
          </p:nvPr>
        </p:nvGraphicFramePr>
        <p:xfrm>
          <a:off x="2809930" y="1501743"/>
          <a:ext cx="6415088" cy="4533900"/>
        </p:xfrm>
        <a:graphic>
          <a:graphicData uri="http://schemas.openxmlformats.org/presentationml/2006/ole">
            <mc:AlternateContent xmlns:mc="http://schemas.openxmlformats.org/markup-compatibility/2006">
              <mc:Choice xmlns:v="urn:schemas-microsoft-com:vml" Requires="v">
                <p:oleObj name="Acrobat Document" r:id="rId3" imgW="6415686" imgH="4533492" progId="AcroExch.Document.11">
                  <p:embed/>
                </p:oleObj>
              </mc:Choice>
              <mc:Fallback>
                <p:oleObj name="Acrobat Document" r:id="rId3" imgW="6415686" imgH="4533492" progId="AcroExch.Document.11">
                  <p:embed/>
                  <p:pic>
                    <p:nvPicPr>
                      <p:cNvPr id="0" name=""/>
                      <p:cNvPicPr/>
                      <p:nvPr/>
                    </p:nvPicPr>
                    <p:blipFill>
                      <a:blip r:embed="rId4"/>
                      <a:stretch>
                        <a:fillRect/>
                      </a:stretch>
                    </p:blipFill>
                    <p:spPr>
                      <a:xfrm>
                        <a:off x="2809930" y="1501743"/>
                        <a:ext cx="6415088" cy="4533900"/>
                      </a:xfrm>
                      <a:prstGeom prst="rect">
                        <a:avLst/>
                      </a:prstGeom>
                    </p:spPr>
                  </p:pic>
                </p:oleObj>
              </mc:Fallback>
            </mc:AlternateContent>
          </a:graphicData>
        </a:graphic>
      </p:graphicFrame>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1442</TotalTime>
  <Words>896</Words>
  <Application>Microsoft Office PowerPoint</Application>
  <PresentationFormat>Widescreen</PresentationFormat>
  <Paragraphs>101</Paragraphs>
  <Slides>14</Slides>
  <Notes>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14</vt:i4>
      </vt:variant>
    </vt:vector>
  </HeadingPairs>
  <TitlesOfParts>
    <vt:vector size="21" baseType="lpstr">
      <vt:lpstr>Arial</vt:lpstr>
      <vt:lpstr>Calibri</vt:lpstr>
      <vt:lpstr>Trebuchet MS</vt:lpstr>
      <vt:lpstr>Wingdings</vt:lpstr>
      <vt:lpstr>Wingdings 3</vt:lpstr>
      <vt:lpstr>Facet</vt:lpstr>
      <vt:lpstr>Adobe Acrobat Document</vt:lpstr>
      <vt:lpstr>Project Title - Seasonal Agriculture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Trayam Roy</cp:lastModifiedBy>
  <cp:revision>102</cp:revision>
  <dcterms:created xsi:type="dcterms:W3CDTF">2021-07-11T13:13:15Z</dcterms:created>
  <dcterms:modified xsi:type="dcterms:W3CDTF">2026-09-08T00:55:40Z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